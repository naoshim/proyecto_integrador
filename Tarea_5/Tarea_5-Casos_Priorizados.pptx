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Calibri (MS) Bold" charset="1" panose="020F0702030404030204"/>
      <p:regular r:id="rId7"/>
    </p:embeddedFont>
    <p:embeddedFont>
      <p:font typeface="Calibri (MS)" charset="1" panose="020F0502020204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261872"/>
            <a:chOff x="0" y="0"/>
            <a:chExt cx="24383390" cy="1682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682496"/>
            </a:xfrm>
            <a:custGeom>
              <a:avLst/>
              <a:gdLst/>
              <a:ahLst/>
              <a:cxnLst/>
              <a:rect r="r" b="b" t="t" l="l"/>
              <a:pathLst>
                <a:path h="1682496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682496"/>
                  </a:lnTo>
                  <a:lnTo>
                    <a:pt x="0" y="1682496"/>
                  </a:lnTo>
                  <a:close/>
                </a:path>
              </a:pathLst>
            </a:custGeom>
            <a:solidFill>
              <a:srgbClr val="0F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8912" y="246888"/>
            <a:ext cx="754380" cy="754380"/>
            <a:chOff x="0" y="0"/>
            <a:chExt cx="100584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838200" y="0"/>
                  </a:lnTo>
                  <a:cubicBezTo>
                    <a:pt x="930783" y="0"/>
                    <a:pt x="1005840" y="75057"/>
                    <a:pt x="1005840" y="167640"/>
                  </a:cubicBezTo>
                  <a:lnTo>
                    <a:pt x="1005840" y="838200"/>
                  </a:lnTo>
                  <a:cubicBezTo>
                    <a:pt x="1005840" y="930783"/>
                    <a:pt x="930783" y="1005840"/>
                    <a:pt x="83820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2684C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05840" cy="106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6904" y="2626328"/>
            <a:ext cx="5500688" cy="7036880"/>
            <a:chOff x="0" y="0"/>
            <a:chExt cx="7334250" cy="93825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34250" cy="9382506"/>
            </a:xfrm>
            <a:custGeom>
              <a:avLst/>
              <a:gdLst/>
              <a:ahLst/>
              <a:cxnLst/>
              <a:rect r="r" b="b" t="t" l="l"/>
              <a:pathLst>
                <a:path h="9382506" w="7334250">
                  <a:moveTo>
                    <a:pt x="0" y="1222375"/>
                  </a:moveTo>
                  <a:cubicBezTo>
                    <a:pt x="0" y="547243"/>
                    <a:pt x="547243" y="0"/>
                    <a:pt x="1222375" y="0"/>
                  </a:cubicBezTo>
                  <a:lnTo>
                    <a:pt x="6111875" y="0"/>
                  </a:lnTo>
                  <a:cubicBezTo>
                    <a:pt x="6787007" y="0"/>
                    <a:pt x="7334250" y="547243"/>
                    <a:pt x="7334250" y="1222375"/>
                  </a:cubicBezTo>
                  <a:lnTo>
                    <a:pt x="7334250" y="8160131"/>
                  </a:lnTo>
                  <a:cubicBezTo>
                    <a:pt x="7334250" y="8835263"/>
                    <a:pt x="6787007" y="9382506"/>
                    <a:pt x="6111875" y="9382506"/>
                  </a:cubicBezTo>
                  <a:lnTo>
                    <a:pt x="1222375" y="9382506"/>
                  </a:lnTo>
                  <a:cubicBezTo>
                    <a:pt x="547243" y="9382506"/>
                    <a:pt x="0" y="8835263"/>
                    <a:pt x="0" y="816013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BEDA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4048" y="2633472"/>
            <a:ext cx="5486400" cy="109728"/>
            <a:chOff x="0" y="0"/>
            <a:chExt cx="7315200" cy="1463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6434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306824" y="2784348"/>
            <a:ext cx="1303020" cy="384048"/>
            <a:chOff x="0" y="0"/>
            <a:chExt cx="173736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" cy="512064"/>
            </a:xfrm>
            <a:custGeom>
              <a:avLst/>
              <a:gdLst/>
              <a:ahLst/>
              <a:cxnLst/>
              <a:rect r="r" b="b" t="t" l="l"/>
              <a:pathLst>
                <a:path h="512064" w="1737360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1652016" y="0"/>
                  </a:lnTo>
                  <a:cubicBezTo>
                    <a:pt x="1699133" y="0"/>
                    <a:pt x="1737360" y="38227"/>
                    <a:pt x="1737360" y="85344"/>
                  </a:cubicBezTo>
                  <a:lnTo>
                    <a:pt x="1737360" y="426720"/>
                  </a:lnTo>
                  <a:cubicBezTo>
                    <a:pt x="1737360" y="473837"/>
                    <a:pt x="1699133" y="512064"/>
                    <a:pt x="1652016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EDF4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37360" cy="540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C643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9788" y="3319272"/>
            <a:ext cx="1892808" cy="466344"/>
            <a:chOff x="0" y="0"/>
            <a:chExt cx="2523744" cy="62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23744" cy="621792"/>
            </a:xfrm>
            <a:custGeom>
              <a:avLst/>
              <a:gdLst/>
              <a:ahLst/>
              <a:cxnLst/>
              <a:rect r="r" b="b" t="t" l="l"/>
              <a:pathLst>
                <a:path h="621792" w="2523744">
                  <a:moveTo>
                    <a:pt x="0" y="103632"/>
                  </a:moveTo>
                  <a:cubicBezTo>
                    <a:pt x="0" y="46355"/>
                    <a:pt x="46355" y="0"/>
                    <a:pt x="103632" y="0"/>
                  </a:cubicBezTo>
                  <a:lnTo>
                    <a:pt x="2420112" y="0"/>
                  </a:lnTo>
                  <a:cubicBezTo>
                    <a:pt x="2477389" y="0"/>
                    <a:pt x="2523744" y="46355"/>
                    <a:pt x="2523744" y="103632"/>
                  </a:cubicBezTo>
                  <a:lnTo>
                    <a:pt x="2523744" y="518160"/>
                  </a:lnTo>
                  <a:cubicBezTo>
                    <a:pt x="2523744" y="575437"/>
                    <a:pt x="2477389" y="621792"/>
                    <a:pt x="2420112" y="621792"/>
                  </a:cubicBezTo>
                  <a:lnTo>
                    <a:pt x="103632" y="621792"/>
                  </a:lnTo>
                  <a:cubicBezTo>
                    <a:pt x="46355" y="621792"/>
                    <a:pt x="0" y="575437"/>
                    <a:pt x="0" y="518160"/>
                  </a:cubicBezTo>
                  <a:close/>
                </a:path>
              </a:pathLst>
            </a:custGeom>
            <a:solidFill>
              <a:srgbClr val="F8E1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23744" cy="659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🐞  </a:t>
              </a:r>
              <a:r>
                <a:rPr lang="en-US" sz="1500" b="true">
                  <a:solidFill>
                    <a:srgbClr val="0F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Incidente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2644" y="7701374"/>
            <a:ext cx="5061775" cy="1139000"/>
            <a:chOff x="0" y="0"/>
            <a:chExt cx="6749034" cy="15186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49034" cy="1518666"/>
            </a:xfrm>
            <a:custGeom>
              <a:avLst/>
              <a:gdLst/>
              <a:ahLst/>
              <a:cxnLst/>
              <a:rect r="r" b="b" t="t" l="l"/>
              <a:pathLst>
                <a:path h="1518666" w="6749034">
                  <a:moveTo>
                    <a:pt x="0" y="253111"/>
                  </a:moveTo>
                  <a:cubicBezTo>
                    <a:pt x="0" y="113284"/>
                    <a:pt x="113284" y="0"/>
                    <a:pt x="253111" y="0"/>
                  </a:cubicBezTo>
                  <a:lnTo>
                    <a:pt x="6495923" y="0"/>
                  </a:lnTo>
                  <a:cubicBezTo>
                    <a:pt x="6635750" y="0"/>
                    <a:pt x="6749034" y="113284"/>
                    <a:pt x="6749034" y="253111"/>
                  </a:cubicBezTo>
                  <a:lnTo>
                    <a:pt x="6749034" y="1265555"/>
                  </a:lnTo>
                  <a:cubicBezTo>
                    <a:pt x="6749034" y="1405382"/>
                    <a:pt x="6635750" y="1518666"/>
                    <a:pt x="6495923" y="1518666"/>
                  </a:cubicBezTo>
                  <a:lnTo>
                    <a:pt x="253111" y="1518666"/>
                  </a:lnTo>
                  <a:cubicBezTo>
                    <a:pt x="113284" y="1518666"/>
                    <a:pt x="0" y="1405382"/>
                    <a:pt x="0" y="1265555"/>
                  </a:cubicBezTo>
                  <a:close/>
                </a:path>
              </a:pathLst>
            </a:custGeom>
            <a:solidFill>
              <a:srgbClr val="E1F3FF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749034" cy="1556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gradFill>
                    <a:gsLst>
                      <a:gs pos="0">
                        <a:srgbClr val="1A2332">
                          <a:alpha val="100000"/>
                        </a:srgbClr>
                      </a:gs>
                      <a:gs pos="100000">
                        <a:srgbClr val="0D1520">
                          <a:alpha val="100000"/>
                        </a:srgbClr>
                      </a:gs>
                    </a:gsLst>
                    <a:lin ang="540000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💬 </a:t>
              </a:r>
              <a:r>
                <a:rPr lang="en-US" sz="1500" b="true">
                  <a:solidFill>
                    <a:srgbClr val="2684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MENSAJE AL USUARIO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gradFill>
                    <a:gsLst>
                      <a:gs pos="0">
                        <a:srgbClr val="1A2332">
                          <a:alpha val="100000"/>
                        </a:srgbClr>
                      </a:gs>
                      <a:gs pos="100000">
                        <a:srgbClr val="0D1520">
                          <a:alpha val="100000"/>
                        </a:srgbClr>
                      </a:gs>
                    </a:gsLst>
                    <a:lin ang="5400000"/>
                  </a:gradFill>
                  <a:latin typeface="Calibri (MS)"/>
                  <a:ea typeface="Calibri (MS)"/>
                  <a:cs typeface="Calibri (MS)"/>
                  <a:sym typeface="Calibri (MS)"/>
                </a:rPr>
                <a:t>“Tu reporte quedó como prioridad alta. El equipo ya realiza el diagnóstico y te actualizaremos dentro de 2 horas.”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23908" y="2626328"/>
            <a:ext cx="5500688" cy="7036880"/>
            <a:chOff x="0" y="0"/>
            <a:chExt cx="7334250" cy="93825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34250" cy="9382506"/>
            </a:xfrm>
            <a:custGeom>
              <a:avLst/>
              <a:gdLst/>
              <a:ahLst/>
              <a:cxnLst/>
              <a:rect r="r" b="b" t="t" l="l"/>
              <a:pathLst>
                <a:path h="9382506" w="7334250">
                  <a:moveTo>
                    <a:pt x="0" y="1222375"/>
                  </a:moveTo>
                  <a:cubicBezTo>
                    <a:pt x="0" y="547243"/>
                    <a:pt x="547243" y="0"/>
                    <a:pt x="1222375" y="0"/>
                  </a:cubicBezTo>
                  <a:lnTo>
                    <a:pt x="6111875" y="0"/>
                  </a:lnTo>
                  <a:cubicBezTo>
                    <a:pt x="6787007" y="0"/>
                    <a:pt x="7334250" y="547243"/>
                    <a:pt x="7334250" y="1222375"/>
                  </a:cubicBezTo>
                  <a:lnTo>
                    <a:pt x="7334250" y="8160131"/>
                  </a:lnTo>
                  <a:cubicBezTo>
                    <a:pt x="7334250" y="8835263"/>
                    <a:pt x="6787007" y="9382506"/>
                    <a:pt x="6111875" y="9382506"/>
                  </a:cubicBezTo>
                  <a:lnTo>
                    <a:pt x="1222375" y="9382506"/>
                  </a:lnTo>
                  <a:cubicBezTo>
                    <a:pt x="547243" y="9382506"/>
                    <a:pt x="0" y="8835263"/>
                    <a:pt x="0" y="816013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BEDAE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131052" y="2633472"/>
            <a:ext cx="5486400" cy="109728"/>
            <a:chOff x="0" y="0"/>
            <a:chExt cx="7315200" cy="1463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69C3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3828" y="2784348"/>
            <a:ext cx="1303020" cy="384048"/>
            <a:chOff x="0" y="0"/>
            <a:chExt cx="173736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37360" cy="512064"/>
            </a:xfrm>
            <a:custGeom>
              <a:avLst/>
              <a:gdLst/>
              <a:ahLst/>
              <a:cxnLst/>
              <a:rect r="r" b="b" t="t" l="l"/>
              <a:pathLst>
                <a:path h="512064" w="1737360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1652016" y="0"/>
                  </a:lnTo>
                  <a:cubicBezTo>
                    <a:pt x="1699133" y="0"/>
                    <a:pt x="1737360" y="38227"/>
                    <a:pt x="1737360" y="85344"/>
                  </a:cubicBezTo>
                  <a:lnTo>
                    <a:pt x="1737360" y="426720"/>
                  </a:lnTo>
                  <a:cubicBezTo>
                    <a:pt x="1737360" y="473837"/>
                    <a:pt x="1699133" y="512064"/>
                    <a:pt x="1652016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EDF4F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737360" cy="540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D69C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MEDIUM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36792" y="3319272"/>
            <a:ext cx="1892808" cy="466344"/>
            <a:chOff x="0" y="0"/>
            <a:chExt cx="2523744" cy="621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3744" cy="621792"/>
            </a:xfrm>
            <a:custGeom>
              <a:avLst/>
              <a:gdLst/>
              <a:ahLst/>
              <a:cxnLst/>
              <a:rect r="r" b="b" t="t" l="l"/>
              <a:pathLst>
                <a:path h="621792" w="2523744">
                  <a:moveTo>
                    <a:pt x="0" y="103632"/>
                  </a:moveTo>
                  <a:cubicBezTo>
                    <a:pt x="0" y="46355"/>
                    <a:pt x="46355" y="0"/>
                    <a:pt x="103632" y="0"/>
                  </a:cubicBezTo>
                  <a:lnTo>
                    <a:pt x="2420112" y="0"/>
                  </a:lnTo>
                  <a:cubicBezTo>
                    <a:pt x="2477389" y="0"/>
                    <a:pt x="2523744" y="46355"/>
                    <a:pt x="2523744" y="103632"/>
                  </a:cubicBezTo>
                  <a:lnTo>
                    <a:pt x="2523744" y="518160"/>
                  </a:lnTo>
                  <a:cubicBezTo>
                    <a:pt x="2523744" y="575437"/>
                    <a:pt x="2477389" y="621792"/>
                    <a:pt x="2420112" y="621792"/>
                  </a:cubicBezTo>
                  <a:lnTo>
                    <a:pt x="103632" y="621792"/>
                  </a:lnTo>
                  <a:cubicBezTo>
                    <a:pt x="46355" y="621792"/>
                    <a:pt x="0" y="575437"/>
                    <a:pt x="0" y="518160"/>
                  </a:cubicBezTo>
                  <a:close/>
                </a:path>
              </a:pathLst>
            </a:custGeom>
            <a:solidFill>
              <a:srgbClr val="FFF4D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523744" cy="659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🐞  Incidente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29648" y="7701374"/>
            <a:ext cx="5027200" cy="1139000"/>
            <a:chOff x="0" y="0"/>
            <a:chExt cx="6702933" cy="15186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02933" cy="1518666"/>
            </a:xfrm>
            <a:custGeom>
              <a:avLst/>
              <a:gdLst/>
              <a:ahLst/>
              <a:cxnLst/>
              <a:rect r="r" b="b" t="t" l="l"/>
              <a:pathLst>
                <a:path h="1518666" w="6702933">
                  <a:moveTo>
                    <a:pt x="0" y="253111"/>
                  </a:moveTo>
                  <a:cubicBezTo>
                    <a:pt x="0" y="113284"/>
                    <a:pt x="112510" y="0"/>
                    <a:pt x="251382" y="0"/>
                  </a:cubicBezTo>
                  <a:lnTo>
                    <a:pt x="6451551" y="0"/>
                  </a:lnTo>
                  <a:cubicBezTo>
                    <a:pt x="6590423" y="0"/>
                    <a:pt x="6702933" y="113284"/>
                    <a:pt x="6702933" y="253111"/>
                  </a:cubicBezTo>
                  <a:lnTo>
                    <a:pt x="6702933" y="1265555"/>
                  </a:lnTo>
                  <a:cubicBezTo>
                    <a:pt x="6702933" y="1405382"/>
                    <a:pt x="6590423" y="1518666"/>
                    <a:pt x="6451551" y="1518666"/>
                  </a:cubicBezTo>
                  <a:lnTo>
                    <a:pt x="251382" y="1518666"/>
                  </a:lnTo>
                  <a:cubicBezTo>
                    <a:pt x="112510" y="1518666"/>
                    <a:pt x="0" y="1405382"/>
                    <a:pt x="0" y="1265555"/>
                  </a:cubicBezTo>
                  <a:close/>
                </a:path>
              </a:pathLst>
            </a:custGeom>
            <a:solidFill>
              <a:srgbClr val="E1F3FF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702933" cy="1556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684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💬 MENSAJE AL USUARIO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gradFill>
                    <a:gsLst>
                      <a:gs pos="0">
                        <a:srgbClr val="1A2332">
                          <a:alpha val="100000"/>
                        </a:srgbClr>
                      </a:gs>
                      <a:gs pos="100000">
                        <a:srgbClr val="0D1520">
                          <a:alpha val="100000"/>
                        </a:srgbClr>
                      </a:gs>
                    </a:gsLst>
                    <a:lin ang="5400000"/>
                  </a:gradFill>
                  <a:latin typeface="Calibri (MS)"/>
                  <a:ea typeface="Calibri (MS)"/>
                  <a:cs typeface="Calibri (MS)"/>
                  <a:sym typeface="Calibri (MS)"/>
                </a:rPr>
                <a:t>“Tu reporte quedó como prioridad media. Daremos seguimiento al error y te actualizaremos dentro de 8 horas.”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70912" y="2626328"/>
            <a:ext cx="5500688" cy="7036880"/>
            <a:chOff x="0" y="0"/>
            <a:chExt cx="7334250" cy="93825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34250" cy="9382506"/>
            </a:xfrm>
            <a:custGeom>
              <a:avLst/>
              <a:gdLst/>
              <a:ahLst/>
              <a:cxnLst/>
              <a:rect r="r" b="b" t="t" l="l"/>
              <a:pathLst>
                <a:path h="9382506" w="7334250">
                  <a:moveTo>
                    <a:pt x="0" y="1222375"/>
                  </a:moveTo>
                  <a:cubicBezTo>
                    <a:pt x="0" y="547243"/>
                    <a:pt x="547243" y="0"/>
                    <a:pt x="1222375" y="0"/>
                  </a:cubicBezTo>
                  <a:lnTo>
                    <a:pt x="6111875" y="0"/>
                  </a:lnTo>
                  <a:cubicBezTo>
                    <a:pt x="6787007" y="0"/>
                    <a:pt x="7334250" y="547243"/>
                    <a:pt x="7334250" y="1222375"/>
                  </a:cubicBezTo>
                  <a:lnTo>
                    <a:pt x="7334250" y="8160131"/>
                  </a:lnTo>
                  <a:cubicBezTo>
                    <a:pt x="7334250" y="8835263"/>
                    <a:pt x="6787007" y="9382506"/>
                    <a:pt x="6111875" y="9382506"/>
                  </a:cubicBezTo>
                  <a:lnTo>
                    <a:pt x="1222375" y="9382506"/>
                  </a:lnTo>
                  <a:cubicBezTo>
                    <a:pt x="547243" y="9382506"/>
                    <a:pt x="0" y="8835263"/>
                    <a:pt x="0" y="816013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BEDAED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878056" y="2633472"/>
            <a:ext cx="5486400" cy="109728"/>
            <a:chOff x="0" y="0"/>
            <a:chExt cx="7315200" cy="1463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428B5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800832" y="2784348"/>
            <a:ext cx="1303020" cy="384048"/>
            <a:chOff x="0" y="0"/>
            <a:chExt cx="173736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37360" cy="512064"/>
            </a:xfrm>
            <a:custGeom>
              <a:avLst/>
              <a:gdLst/>
              <a:ahLst/>
              <a:cxnLst/>
              <a:rect r="r" b="b" t="t" l="l"/>
              <a:pathLst>
                <a:path h="512064" w="1737360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1652016" y="0"/>
                  </a:lnTo>
                  <a:cubicBezTo>
                    <a:pt x="1699133" y="0"/>
                    <a:pt x="1737360" y="38227"/>
                    <a:pt x="1737360" y="85344"/>
                  </a:cubicBezTo>
                  <a:lnTo>
                    <a:pt x="1737360" y="426720"/>
                  </a:lnTo>
                  <a:cubicBezTo>
                    <a:pt x="1737360" y="473837"/>
                    <a:pt x="1699133" y="512064"/>
                    <a:pt x="1652016" y="512064"/>
                  </a:cubicBezTo>
                  <a:lnTo>
                    <a:pt x="85344" y="512064"/>
                  </a:lnTo>
                  <a:cubicBezTo>
                    <a:pt x="38227" y="512064"/>
                    <a:pt x="0" y="473837"/>
                    <a:pt x="0" y="426720"/>
                  </a:cubicBezTo>
                  <a:close/>
                </a:path>
              </a:pathLst>
            </a:custGeom>
            <a:solidFill>
              <a:srgbClr val="EDF4FA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737360" cy="540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42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83796" y="3319272"/>
            <a:ext cx="1892808" cy="466344"/>
            <a:chOff x="0" y="0"/>
            <a:chExt cx="2523744" cy="6217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23744" cy="621792"/>
            </a:xfrm>
            <a:custGeom>
              <a:avLst/>
              <a:gdLst/>
              <a:ahLst/>
              <a:cxnLst/>
              <a:rect r="r" b="b" t="t" l="l"/>
              <a:pathLst>
                <a:path h="621792" w="2523744">
                  <a:moveTo>
                    <a:pt x="0" y="103632"/>
                  </a:moveTo>
                  <a:cubicBezTo>
                    <a:pt x="0" y="46355"/>
                    <a:pt x="46355" y="0"/>
                    <a:pt x="103632" y="0"/>
                  </a:cubicBezTo>
                  <a:lnTo>
                    <a:pt x="2420112" y="0"/>
                  </a:lnTo>
                  <a:cubicBezTo>
                    <a:pt x="2477389" y="0"/>
                    <a:pt x="2523744" y="46355"/>
                    <a:pt x="2523744" y="103632"/>
                  </a:cubicBezTo>
                  <a:lnTo>
                    <a:pt x="2523744" y="518160"/>
                  </a:lnTo>
                  <a:cubicBezTo>
                    <a:pt x="2523744" y="575437"/>
                    <a:pt x="2477389" y="621792"/>
                    <a:pt x="2420112" y="621792"/>
                  </a:cubicBezTo>
                  <a:lnTo>
                    <a:pt x="103632" y="621792"/>
                  </a:lnTo>
                  <a:cubicBezTo>
                    <a:pt x="46355" y="621792"/>
                    <a:pt x="0" y="575437"/>
                    <a:pt x="0" y="518160"/>
                  </a:cubicBezTo>
                  <a:close/>
                </a:path>
              </a:pathLst>
            </a:custGeom>
            <a:solidFill>
              <a:srgbClr val="E2F4E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523744" cy="659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F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☑  Solicitud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76652" y="7701374"/>
            <a:ext cx="5061775" cy="1139000"/>
            <a:chOff x="0" y="0"/>
            <a:chExt cx="6749034" cy="15186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749034" cy="1518666"/>
            </a:xfrm>
            <a:custGeom>
              <a:avLst/>
              <a:gdLst/>
              <a:ahLst/>
              <a:cxnLst/>
              <a:rect r="r" b="b" t="t" l="l"/>
              <a:pathLst>
                <a:path h="1518666" w="6749034">
                  <a:moveTo>
                    <a:pt x="0" y="253111"/>
                  </a:moveTo>
                  <a:cubicBezTo>
                    <a:pt x="0" y="113284"/>
                    <a:pt x="113284" y="0"/>
                    <a:pt x="253111" y="0"/>
                  </a:cubicBezTo>
                  <a:lnTo>
                    <a:pt x="6495923" y="0"/>
                  </a:lnTo>
                  <a:cubicBezTo>
                    <a:pt x="6635750" y="0"/>
                    <a:pt x="6749034" y="113284"/>
                    <a:pt x="6749034" y="253111"/>
                  </a:cubicBezTo>
                  <a:lnTo>
                    <a:pt x="6749034" y="1265555"/>
                  </a:lnTo>
                  <a:cubicBezTo>
                    <a:pt x="6749034" y="1405382"/>
                    <a:pt x="6635750" y="1518666"/>
                    <a:pt x="6495923" y="1518666"/>
                  </a:cubicBezTo>
                  <a:lnTo>
                    <a:pt x="253111" y="1518666"/>
                  </a:lnTo>
                  <a:cubicBezTo>
                    <a:pt x="113284" y="1518666"/>
                    <a:pt x="0" y="1405382"/>
                    <a:pt x="0" y="1265555"/>
                  </a:cubicBezTo>
                  <a:close/>
                </a:path>
              </a:pathLst>
            </a:custGeom>
            <a:solidFill>
              <a:srgbClr val="E1F3FF"/>
            </a:solid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749034" cy="1556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gradFill>
                    <a:gsLst>
                      <a:gs pos="0">
                        <a:srgbClr val="1A2332">
                          <a:alpha val="100000"/>
                        </a:srgbClr>
                      </a:gs>
                      <a:gs pos="100000">
                        <a:srgbClr val="0D1520">
                          <a:alpha val="100000"/>
                        </a:srgbClr>
                      </a:gs>
                    </a:gsLst>
                    <a:lin ang="540000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💬</a:t>
              </a:r>
              <a:r>
                <a:rPr lang="en-US" sz="1500" b="true">
                  <a:solidFill>
                    <a:srgbClr val="2684C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MENSAJE AL USUARIO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gradFill>
                    <a:gsLst>
                      <a:gs pos="0">
                        <a:srgbClr val="1A2332">
                          <a:alpha val="100000"/>
                        </a:srgbClr>
                      </a:gs>
                      <a:gs pos="100000">
                        <a:srgbClr val="0D1520">
                          <a:alpha val="100000"/>
                        </a:srgbClr>
                      </a:gs>
                    </a:gsLst>
                    <a:lin ang="5400000"/>
                  </a:gradFill>
                  <a:latin typeface="Calibri (MS)"/>
                  <a:ea typeface="Calibri (MS)"/>
                  <a:cs typeface="Calibri (MS)"/>
                  <a:sym typeface="Calibri (MS)"/>
                </a:rPr>
                <a:t>“Tu solicitud quedó como prioridad baja. Revisaremos la configuración y te actualizaremos dentro de 48 horas.”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172034" y="106881"/>
            <a:ext cx="923692" cy="952097"/>
            <a:chOff x="0" y="0"/>
            <a:chExt cx="718708" cy="7408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8708" cy="740810"/>
            </a:xfrm>
            <a:custGeom>
              <a:avLst/>
              <a:gdLst/>
              <a:ahLst/>
              <a:cxnLst/>
              <a:rect r="r" b="b" t="t" l="l"/>
              <a:pathLst>
                <a:path h="740810" w="718708">
                  <a:moveTo>
                    <a:pt x="359354" y="0"/>
                  </a:moveTo>
                  <a:lnTo>
                    <a:pt x="718708" y="282964"/>
                  </a:lnTo>
                  <a:lnTo>
                    <a:pt x="581447" y="740810"/>
                  </a:lnTo>
                  <a:lnTo>
                    <a:pt x="137261" y="740810"/>
                  </a:lnTo>
                  <a:lnTo>
                    <a:pt x="0" y="282964"/>
                  </a:lnTo>
                  <a:lnTo>
                    <a:pt x="359354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12298" y="156627"/>
              <a:ext cx="494112" cy="53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672484" y="132422"/>
            <a:ext cx="901016" cy="901016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797528" y="131972"/>
            <a:ext cx="993481" cy="869296"/>
            <a:chOff x="0" y="0"/>
            <a:chExt cx="812800" cy="711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490472" y="199644"/>
            <a:ext cx="11750040" cy="46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KAN  /  NetGuard Pro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90472" y="707136"/>
            <a:ext cx="1821323" cy="36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DE5F6"/>
                </a:solidFill>
                <a:latin typeface="Calibri (MS)"/>
                <a:ea typeface="Calibri (MS)"/>
                <a:cs typeface="Calibri (MS)"/>
                <a:sym typeface="Calibri (MS)"/>
              </a:rPr>
              <a:t>Gestión de tickets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150340" y="457083"/>
            <a:ext cx="9144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Kanban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659100" y="438150"/>
            <a:ext cx="9144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797528" y="438150"/>
            <a:ext cx="9144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440613" y="1460373"/>
            <a:ext cx="7374769" cy="66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Resumen de tickets registrados en Jira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16102" y="2947797"/>
            <a:ext cx="63272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B6F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KAN-11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1228" y="3902964"/>
            <a:ext cx="4864608" cy="36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 NetGuard Pro no disponible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81228" y="4749165"/>
            <a:ext cx="4864608" cy="250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Reportó: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Carlos Mendoza · Jefe de Departamento de TI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Impacto: </a:t>
            </a:r>
            <a:r>
              <a:rPr lang="en-US" sz="1650">
                <a:solidFill>
                  <a:srgbClr val="0F2A4A"/>
                </a:solidFill>
                <a:latin typeface="Calibri (MS)"/>
                <a:ea typeface="Calibri (MS)"/>
                <a:cs typeface="Calibri (MS)"/>
                <a:sym typeface="Calibri (MS)"/>
              </a:rPr>
              <a:t>Empresa NetGuard Pro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Urgencia: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Alta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SLA: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2 horas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Asignado: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Laura Reyes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Infraestructura TI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Actividades: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Validar alcance → revisar conectividad/servicio → diagnosticar → escalar → restablecer y validar.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Escalación: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SÍ · Infraestructura TI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546209" y="2947797"/>
            <a:ext cx="63272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B6F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KAN-09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428232" y="3902964"/>
            <a:ext cx="4864608" cy="36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 al generar reporte mensual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428232" y="4749165"/>
            <a:ext cx="4864608" cy="225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Reportó: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Silvia Herrera · Administración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Impacto:</a:t>
            </a:r>
            <a:r>
              <a:rPr lang="en-US" sz="1650">
                <a:solidFill>
                  <a:srgbClr val="0F2A4A"/>
                </a:solidFill>
                <a:latin typeface="Calibri (MS)"/>
                <a:ea typeface="Calibri (MS)"/>
                <a:cs typeface="Calibri (MS)"/>
                <a:sym typeface="Calibri (MS)"/>
              </a:rPr>
              <a:t> Departamento de Administración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Urgencia: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Media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SLA: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8 horas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Asignado: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Christopher Mora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Actividades: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Solicitar evidencia → reproducir error → revisar filtros/datos → corregir → validar reporte.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Escalación: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NO · atención individual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397473" y="2947797"/>
            <a:ext cx="63272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B6F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KAN-10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175236" y="3902964"/>
            <a:ext cx="4864608" cy="36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Cambio de configuración de vista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175236" y="4749165"/>
            <a:ext cx="4864608" cy="225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Reportó: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Miguel Hernández · Recursos Humanos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Impacto: </a:t>
            </a:r>
            <a:r>
              <a:rPr lang="en-US" sz="1650">
                <a:solidFill>
                  <a:srgbClr val="0F2A4A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 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Urgencia: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Baja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SLA: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48 horas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Asignado: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Paola Zarza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Actividades: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Revisar configuración → confirmar requerimiento → aplicar cambio → validar con usuario.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F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Escalación: </a:t>
            </a:r>
            <a:r>
              <a:rPr lang="en-US" sz="1650">
                <a:solidFill>
                  <a:srgbClr val="1F3042"/>
                </a:solidFill>
                <a:latin typeface="Calibri (MS)"/>
                <a:ea typeface="Calibri (MS)"/>
                <a:cs typeface="Calibri (MS)"/>
                <a:sym typeface="Calibri (MS)"/>
              </a:rPr>
              <a:t>NO · solicitud sin afectación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DAHSxANvNyA</dc:identifier>
  <dcterms:modified xsi:type="dcterms:W3CDTF">2011-08-01T06:04:30Z</dcterms:modified>
  <cp:revision>1</cp:revision>
  <dc:title>Caso Help Desk: Impresora Wi‑Fi</dc:title>
</cp:coreProperties>
</file>